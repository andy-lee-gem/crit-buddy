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4" r:id="rId4"/>
  </p:sldMasterIdLst>
  <p:notesMasterIdLst>
    <p:notesMasterId r:id="rId16"/>
  </p:notesMasterIdLst>
  <p:sldIdLst>
    <p:sldId id="256" r:id="rId5"/>
    <p:sldId id="267" r:id="rId6"/>
    <p:sldId id="258" r:id="rId7"/>
    <p:sldId id="257" r:id="rId8"/>
    <p:sldId id="259" r:id="rId9"/>
    <p:sldId id="260" r:id="rId10"/>
    <p:sldId id="265" r:id="rId11"/>
    <p:sldId id="264" r:id="rId12"/>
    <p:sldId id="263" r:id="rId13"/>
    <p:sldId id="266" r:id="rId14"/>
    <p:sldId id="261" r:id="rId15"/>
  </p:sldIdLst>
  <p:sldSz cx="9144000" cy="5143500" type="screen16x9"/>
  <p:notesSz cx="6858000" cy="9144000"/>
  <p:embeddedFontLst>
    <p:embeddedFont>
      <p:font typeface="DM Mono Medium" panose="020B0609040201040103" pitchFamily="49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A8334BF2-7D85-471A-BB7F-DE9FB815CF7F}">
          <p14:sldIdLst>
            <p14:sldId id="256"/>
            <p14:sldId id="267"/>
            <p14:sldId id="258"/>
            <p14:sldId id="257"/>
            <p14:sldId id="259"/>
            <p14:sldId id="260"/>
            <p14:sldId id="265"/>
            <p14:sldId id="264"/>
            <p14:sldId id="263"/>
            <p14:sldId id="266"/>
            <p14:sldId id="261"/>
          </p14:sldIdLst>
        </p14:section>
        <p14:section name="Templates" id="{3F6A6B52-DB65-47CE-BA51-2FDACF89744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223611-D57B-CAD1-C0FE-BF4021779A44}" name="Craig Toney" initials="CT" userId="S::craig@generalmatter.com::542e13fc-c109-4852-8f51-3076f4465576" providerId="AD"/>
  <p188:author id="{ECDEDD13-27CE-5B62-0927-7658E27984D7}" name="David Springfels" initials="DS" userId="S::david@generalmatter.com::842de073-041d-4385-b3cb-540d653f226d" providerId="AD"/>
  <p188:author id="{3D44D619-585F-EEC1-A58B-12E5E4A9D4C9}" name="Kira Gardner" initials="KG" userId="S::kira@generalmatter.com::01117daa-f245-4ffc-b4e1-5c45e2298481" providerId="AD"/>
  <p188:author id="{30A3D032-5EBC-C577-C3D9-0DDE9FF1DAF5}" name="Susan Simpkins" initials="SS" userId="S::susan@generalmatter.com::0bd6ea08-c97c-4800-8405-5db59bc3f38c" providerId="AD"/>
  <p188:author id="{32399363-13CE-1F89-3E03-ED65B6AFF617}" name="Lee Robinson" initials="LR" userId="S::lee@generalmatter.com::d6692f51-1a80-4e46-96e6-d876c8ea38cc" providerId="AD"/>
  <p188:author id="{4A0A93A4-114F-4991-C315-4ACC810AAA8D}" name="Scott Nolan" initials="SN" userId="S::scott@generalmatter.com::d1745914-378d-419b-b9c9-784f94a407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D78"/>
    <a:srgbClr val="D7DBD5"/>
    <a:srgbClr val="9FA39D"/>
    <a:srgbClr val="000000"/>
    <a:srgbClr val="457B9D"/>
    <a:srgbClr val="2A9D8F"/>
    <a:srgbClr val="E9C46A"/>
    <a:srgbClr val="F4A261"/>
    <a:srgbClr val="E63946"/>
    <a:srgbClr val="C4C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AD2B9-BCC6-415A-B574-547A2A7FA395}" v="79" dt="2026-02-02T18:58:06.317"/>
    <p1510:client id="{81345E6C-DC2D-4D77-A628-26C1C04BA643}" v="4" dt="2026-02-02T19:27:59.285"/>
  </p1510:revLst>
</p1510:revInfo>
</file>

<file path=ppt/tableStyles.xml><?xml version="1.0" encoding="utf-8"?>
<a:tblStyleLst xmlns:a="http://schemas.openxmlformats.org/drawingml/2006/main" def="{D351EA15-7A90-462B-AB2B-650AC014A28B}">
  <a:tblStyle styleId="{D351EA15-7A90-462B-AB2B-650AC014A2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48" d="100"/>
          <a:sy n="148" d="100"/>
        </p:scale>
        <p:origin x="2168" y="9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M - Main Dark 1 1">
  <p:cSld name="GM - Deep Charcoal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sldNum" idx="12"/>
          </p:nvPr>
        </p:nvSpPr>
        <p:spPr>
          <a:xfrm>
            <a:off x="7650300" y="162950"/>
            <a:ext cx="1309200" cy="1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chemeClr val="bg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oogle Shape;339;p64">
            <a:extLst>
              <a:ext uri="{FF2B5EF4-FFF2-40B4-BE49-F238E27FC236}">
                <a16:creationId xmlns:a16="http://schemas.microsoft.com/office/drawing/2014/main" id="{5BF5D700-5792-FF40-F5AD-E2A088F9D9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9AFCB8AD-99B0-7AC8-BD76-7FB39187B1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CE660268-5341-9DF9-E577-C801E45E18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+mj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Google Shape;339;p64">
            <a:extLst>
              <a:ext uri="{FF2B5EF4-FFF2-40B4-BE49-F238E27FC236}">
                <a16:creationId xmlns:a16="http://schemas.microsoft.com/office/drawing/2014/main" id="{4E54EABE-FBEA-4B3F-FD1C-C92EEE9E3F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887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M - Main Dark 1 1" preserve="1">
  <p:cSld name="1_GM - Matter Grey 3">
    <p:bg>
      <p:bgPr>
        <a:solidFill>
          <a:srgbClr val="9FA39D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sldNum" idx="12"/>
          </p:nvPr>
        </p:nvSpPr>
        <p:spPr>
          <a:xfrm>
            <a:off x="7650300" y="162950"/>
            <a:ext cx="1309200" cy="1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chemeClr val="bg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oogle Shape;339;p64">
            <a:extLst>
              <a:ext uri="{FF2B5EF4-FFF2-40B4-BE49-F238E27FC236}">
                <a16:creationId xmlns:a16="http://schemas.microsoft.com/office/drawing/2014/main" id="{5BF5D700-5792-FF40-F5AD-E2A088F9D9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;p2">
            <a:extLst>
              <a:ext uri="{FF2B5EF4-FFF2-40B4-BE49-F238E27FC236}">
                <a16:creationId xmlns:a16="http://schemas.microsoft.com/office/drawing/2014/main" id="{75A804C4-FCF6-C56A-803C-70A42A2B0A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Google Shape;11;p2">
            <a:extLst>
              <a:ext uri="{FF2B5EF4-FFF2-40B4-BE49-F238E27FC236}">
                <a16:creationId xmlns:a16="http://schemas.microsoft.com/office/drawing/2014/main" id="{8494501A-3AF3-8FE1-35F5-59B793DAE1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5645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50" y="1136649"/>
            <a:ext cx="8521700" cy="3502509"/>
          </a:xfrm>
        </p:spPr>
        <p:txBody>
          <a:bodyPr/>
          <a:lstStyle>
            <a:lvl1pPr marL="288925" indent="-174625">
              <a:buClr>
                <a:srgbClr val="457B9D"/>
              </a:buClr>
              <a:buSzPct val="80000"/>
              <a:tabLst/>
              <a:defRPr>
                <a:solidFill>
                  <a:srgbClr val="7A7D78"/>
                </a:solidFill>
              </a:defRPr>
            </a:lvl1pPr>
            <a:lvl2pPr marL="742950" indent="-146050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2pPr>
            <a:lvl3pPr marL="1201738" indent="-147638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3pPr>
            <a:lvl4pPr marL="1662113" indent="-150813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4pPr>
            <a:lvl5pPr marL="2116138" indent="-147638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06ADFC-8200-5521-2681-B281DF825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3B781408-B974-EFF6-3E46-34959EA778F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CD462BFD-DDD8-39B8-3657-88D9EAE81D76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E743A672-A456-2D58-DD9A-54960E5BB114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50" y="1136649"/>
            <a:ext cx="8521700" cy="3502509"/>
          </a:xfrm>
        </p:spPr>
        <p:txBody>
          <a:bodyPr/>
          <a:lstStyle>
            <a:lvl1pPr marL="114300" indent="0">
              <a:buClr>
                <a:srgbClr val="457B9D"/>
              </a:buClr>
              <a:buSzPct val="80000"/>
              <a:buNone/>
              <a:tabLst/>
              <a:defRPr>
                <a:solidFill>
                  <a:srgbClr val="7A7D78"/>
                </a:solidFill>
              </a:defRPr>
            </a:lvl1pPr>
            <a:lvl2pPr marL="5969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2pPr>
            <a:lvl3pPr marL="10541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3pPr>
            <a:lvl4pPr marL="15113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4pPr>
            <a:lvl5pPr marL="19685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06ADFC-8200-5521-2681-B281DF825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3B781408-B974-EFF6-3E46-34959EA778F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CD462BFD-DDD8-39B8-3657-88D9EAE81D76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E743A672-A456-2D58-DD9A-54960E5BB114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87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150" y="1136649"/>
            <a:ext cx="8521700" cy="3502509"/>
          </a:xfrm>
        </p:spPr>
        <p:txBody>
          <a:bodyPr lIns="0" numCol="2"/>
          <a:lstStyle>
            <a:lvl1pPr marL="114300" indent="0">
              <a:buClr>
                <a:srgbClr val="457B9D"/>
              </a:buClr>
              <a:buSzPct val="80000"/>
              <a:buFontTx/>
              <a:buNone/>
              <a:tabLst/>
              <a:defRPr>
                <a:solidFill>
                  <a:srgbClr val="7A7D78"/>
                </a:solidFill>
              </a:defRPr>
            </a:lvl1pPr>
            <a:lvl2pPr marL="596900" indent="0">
              <a:buClr>
                <a:srgbClr val="457B9D"/>
              </a:buClr>
              <a:buSzPct val="80000"/>
              <a:buFontTx/>
              <a:buNone/>
              <a:tabLst/>
              <a:defRPr/>
            </a:lvl2pPr>
            <a:lvl3pPr marL="1054100" indent="0">
              <a:buClr>
                <a:srgbClr val="457B9D"/>
              </a:buClr>
              <a:buSzPct val="80000"/>
              <a:buFontTx/>
              <a:buNone/>
              <a:tabLst/>
              <a:defRPr/>
            </a:lvl3pPr>
            <a:lvl4pPr marL="1511300" indent="0">
              <a:buClr>
                <a:srgbClr val="457B9D"/>
              </a:buClr>
              <a:buSzPct val="80000"/>
              <a:buFontTx/>
              <a:buNone/>
              <a:tabLst/>
              <a:defRPr/>
            </a:lvl4pPr>
            <a:lvl5pPr marL="1968500" indent="0">
              <a:buClr>
                <a:srgbClr val="457B9D"/>
              </a:buClr>
              <a:buSzPct val="80000"/>
              <a:buFontTx/>
              <a:buNone/>
              <a:tabLst/>
              <a:defRPr/>
            </a:lvl5pPr>
          </a:lstStyle>
          <a:p>
            <a:pPr lvl="0"/>
            <a:r>
              <a:rPr lang="en-US"/>
              <a:t>Click to edit 2 column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E1141D1-90A5-E384-3C6A-3D326256B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04B4C4E0-D56C-42C5-D4EF-292CE9248F65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B2B3EE5F-9347-F238-F2FD-56541000EDDA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478F26F6-6CFD-1BA4-1C88-F6E9EAB6F34D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3193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DAB6-9E1B-1149-C287-12A13F7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70;p16">
            <a:extLst>
              <a:ext uri="{FF2B5EF4-FFF2-40B4-BE49-F238E27FC236}">
                <a16:creationId xmlns:a16="http://schemas.microsoft.com/office/drawing/2014/main" id="{6998B0C7-9847-4B8A-4B5C-74A7E481ECB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6" name="Google Shape;71;p16">
            <a:extLst>
              <a:ext uri="{FF2B5EF4-FFF2-40B4-BE49-F238E27FC236}">
                <a16:creationId xmlns:a16="http://schemas.microsoft.com/office/drawing/2014/main" id="{928C9093-716B-2C4D-5EE7-1FDF5981053D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3;p16">
            <a:extLst>
              <a:ext uri="{FF2B5EF4-FFF2-40B4-BE49-F238E27FC236}">
                <a16:creationId xmlns:a16="http://schemas.microsoft.com/office/drawing/2014/main" id="{840B26F4-646D-C487-A9DD-7F01EF0034B4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C8CFDC-2701-F7D1-E331-B58AA0310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3" name="Google Shape;70;p16">
            <a:extLst>
              <a:ext uri="{FF2B5EF4-FFF2-40B4-BE49-F238E27FC236}">
                <a16:creationId xmlns:a16="http://schemas.microsoft.com/office/drawing/2014/main" id="{2DBAFF47-8C34-CEE0-8694-1C298013B2D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4" name="Google Shape;71;p16">
            <a:extLst>
              <a:ext uri="{FF2B5EF4-FFF2-40B4-BE49-F238E27FC236}">
                <a16:creationId xmlns:a16="http://schemas.microsoft.com/office/drawing/2014/main" id="{EDC229C7-8770-58D0-363C-5D787DD11DC1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8630FD92-FF3A-D22E-8B58-E15E94EAC7CC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690025D-0C20-6577-8952-D49BD698F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;p16">
            <a:extLst>
              <a:ext uri="{FF2B5EF4-FFF2-40B4-BE49-F238E27FC236}">
                <a16:creationId xmlns:a16="http://schemas.microsoft.com/office/drawing/2014/main" id="{6998B0C7-9847-4B8A-4B5C-74A7E481ECB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6" name="Google Shape;71;p16">
            <a:extLst>
              <a:ext uri="{FF2B5EF4-FFF2-40B4-BE49-F238E27FC236}">
                <a16:creationId xmlns:a16="http://schemas.microsoft.com/office/drawing/2014/main" id="{928C9093-716B-2C4D-5EE7-1FDF5981053D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3;p16">
            <a:extLst>
              <a:ext uri="{FF2B5EF4-FFF2-40B4-BE49-F238E27FC236}">
                <a16:creationId xmlns:a16="http://schemas.microsoft.com/office/drawing/2014/main" id="{840B26F4-646D-C487-A9DD-7F01EF0034B4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C8CFDC-2701-F7D1-E331-B58AA0310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3" name="Google Shape;70;p16">
            <a:extLst>
              <a:ext uri="{FF2B5EF4-FFF2-40B4-BE49-F238E27FC236}">
                <a16:creationId xmlns:a16="http://schemas.microsoft.com/office/drawing/2014/main" id="{2DBAFF47-8C34-CEE0-8694-1C298013B2D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4" name="Google Shape;71;p16">
            <a:extLst>
              <a:ext uri="{FF2B5EF4-FFF2-40B4-BE49-F238E27FC236}">
                <a16:creationId xmlns:a16="http://schemas.microsoft.com/office/drawing/2014/main" id="{EDC229C7-8770-58D0-363C-5D787DD11DC1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8630FD92-FF3A-D22E-8B58-E15E94EAC7CC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690025D-0C20-6577-8952-D49BD698F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7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This is text</a:t>
            </a:r>
            <a:endParaRPr/>
          </a:p>
        </p:txBody>
      </p: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7B4207D8-9D69-63DD-3DE8-D07E8623EDF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73;p16">
            <a:extLst>
              <a:ext uri="{FF2B5EF4-FFF2-40B4-BE49-F238E27FC236}">
                <a16:creationId xmlns:a16="http://schemas.microsoft.com/office/drawing/2014/main" id="{78193206-0FB8-91A1-11FB-0342F2013A9D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0469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16" r:id="rId3"/>
    <p:sldLayoutId id="2147483722" r:id="rId4"/>
    <p:sldLayoutId id="2147483717" r:id="rId5"/>
    <p:sldLayoutId id="2147483718" r:id="rId6"/>
    <p:sldLayoutId id="2147483723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Inter Tight" panose="020B0604020202020204" charset="0"/>
          <a:cs typeface="Inter Tight" panose="020B060402020202020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45243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5"/>
        </a:buClr>
        <a:buSzPct val="80000"/>
        <a:buFont typeface="Wingdings" pitchFamily="2" charset="2"/>
        <a:buChar char="§"/>
        <a:tabLst/>
        <a:defRPr sz="1400" b="0" i="0" u="none" strike="noStrike" cap="none">
          <a:solidFill>
            <a:srgbClr val="000000"/>
          </a:solidFill>
          <a:latin typeface="+mn-lt"/>
          <a:ea typeface="Inter Tight Light" panose="020B0604020202020204" charset="0"/>
          <a:cs typeface="Inter Tight Light" panose="020B060402020202020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Cassette – criticality 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Given HALEU, cassette is safe by design for criticality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65B2-CC01-D8C6-C25D-018B1798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98FAD-C20E-86E7-FC11-60BAA2AECFAF}"/>
              </a:ext>
            </a:extLst>
          </p:cNvPr>
          <p:cNvSpPr txBox="1"/>
          <p:nvPr/>
        </p:nvSpPr>
        <p:spPr>
          <a:xfrm>
            <a:off x="311699" y="1081802"/>
            <a:ext cx="8250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dirty="0"/>
              <a:t>Conclusions</a:t>
            </a:r>
          </a:p>
          <a:p>
            <a:pPr marL="285750" lvl="1" indent="-285750">
              <a:buFont typeface="Arial" panose="020B0604020202020204" pitchFamily="34" charset="0"/>
              <a:buChar char="•"/>
              <a:defRPr sz="1400" b="1">
                <a:solidFill>
                  <a:srgbClr val="28A745"/>
                </a:solidFill>
              </a:defRPr>
            </a:pPr>
            <a:r>
              <a:rPr lang="en-US" dirty="0"/>
              <a:t>Current cassette configuration is criticality safe (3x4x5)</a:t>
            </a:r>
          </a:p>
          <a:p>
            <a:pPr marL="285750" lvl="1" indent="-285750">
              <a:buFont typeface="Arial" panose="020B0604020202020204" pitchFamily="34" charset="0"/>
              <a:buChar char="•"/>
              <a:defRPr sz="1400"/>
            </a:pPr>
            <a:r>
              <a:rPr lang="en-US" dirty="0"/>
              <a:t>Criticality is not credible under very conservative bounding assumptions for UO2F2, UF6</a:t>
            </a:r>
          </a:p>
          <a:p>
            <a:pPr lvl="1">
              <a:defRPr sz="1400" b="1">
                <a:solidFill>
                  <a:srgbClr val="28A745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25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10896" y="1188720"/>
            <a:ext cx="366832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sz="1200" dirty="0"/>
              <a:t>Infinite Array Model (3×4×5 unit cell)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Cylinder dimensions:</a:t>
            </a:r>
          </a:p>
          <a:p>
            <a:pPr>
              <a:defRPr sz="1400"/>
            </a:pPr>
            <a:r>
              <a:rPr sz="1200" dirty="0"/>
              <a:t>    10"</a:t>
            </a:r>
            <a:r>
              <a:rPr lang="en-US" sz="1200" dirty="0"/>
              <a:t>(diameter)</a:t>
            </a:r>
            <a:r>
              <a:rPr sz="1200" dirty="0"/>
              <a:t> × 100 cm height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Wall material:</a:t>
            </a:r>
          </a:p>
          <a:p>
            <a:pPr>
              <a:defRPr sz="1400"/>
            </a:pPr>
            <a:r>
              <a:rPr sz="1200" dirty="0"/>
              <a:t>    Steel, 1/8" thick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Horizontal gap:</a:t>
            </a:r>
          </a:p>
          <a:p>
            <a:pPr>
              <a:defRPr sz="1400"/>
            </a:pPr>
            <a:r>
              <a:rPr sz="1200" dirty="0"/>
              <a:t>    5 inches (12.7 cm)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Vertical gap:</a:t>
            </a:r>
          </a:p>
          <a:p>
            <a:pPr>
              <a:defRPr sz="1400"/>
            </a:pPr>
            <a:r>
              <a:rPr sz="1200" dirty="0"/>
              <a:t>    3 inches (7.62 cm)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Enrichment:</a:t>
            </a:r>
          </a:p>
          <a:p>
            <a:pPr>
              <a:defRPr sz="1400"/>
            </a:pPr>
            <a:r>
              <a:rPr sz="1200" dirty="0"/>
              <a:t>    21% (bounding HALEU)</a:t>
            </a:r>
          </a:p>
          <a:p>
            <a:pPr>
              <a:spcBef>
                <a:spcPts val="800"/>
              </a:spcBef>
              <a:defRPr sz="1400" b="1"/>
            </a:pPr>
            <a:r>
              <a:rPr sz="1200" dirty="0"/>
              <a:t>Boundary:</a:t>
            </a:r>
          </a:p>
          <a:p>
            <a:pPr>
              <a:defRPr sz="1400"/>
            </a:pPr>
            <a:r>
              <a:rPr sz="1200" dirty="0"/>
              <a:t>    Reflective (infinite array)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ECE77-BE15-9CA2-710C-1B83B328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11" y="509799"/>
            <a:ext cx="3635528" cy="1928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296092-2201-6930-3072-AF6C80D4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521" y="2618147"/>
            <a:ext cx="3805796" cy="2109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Approach </a:t>
            </a:r>
            <a:endParaRPr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68DAC27-D8D9-AC3A-8590-42C15DCE8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971209"/>
            <a:ext cx="7653057" cy="1835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110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Argument for criticality safety: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Critical threshold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 — Determine amount of fissile material that causes criticality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Max credible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 — Determine maximum credible material buildup in operating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Safety margin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 — Show max credible is much less than material required for criticality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600" dirty="0"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-apple-system"/>
              </a:rPr>
              <a:t>Use conservative assumptions all throughout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Conservative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defRPr sz="1500" b="1"/>
            </a:pPr>
            <a:r>
              <a:rPr dirty="0"/>
              <a:t>Infinite array</a:t>
            </a:r>
          </a:p>
          <a:p>
            <a:pPr lvl="1">
              <a:defRPr sz="1300"/>
            </a:pPr>
            <a:r>
              <a:rPr dirty="0"/>
              <a:t>Bounds any finite configuration</a:t>
            </a:r>
            <a:r>
              <a:rPr lang="en-US" dirty="0"/>
              <a:t> and models an infinite-sized cascade</a:t>
            </a:r>
            <a:endParaRPr dirty="0"/>
          </a:p>
          <a:p>
            <a:pPr>
              <a:defRPr sz="1500" b="1"/>
            </a:pPr>
            <a:r>
              <a:rPr dirty="0"/>
              <a:t>Peak moderation (H/U=25)</a:t>
            </a:r>
          </a:p>
          <a:p>
            <a:pPr lvl="1">
              <a:defRPr sz="1300"/>
            </a:pPr>
            <a:r>
              <a:rPr lang="en-US" dirty="0"/>
              <a:t>M</a:t>
            </a:r>
            <a:r>
              <a:rPr dirty="0"/>
              <a:t>aximum reactivity for wet UO2F2</a:t>
            </a:r>
          </a:p>
          <a:p>
            <a:pPr>
              <a:defRPr sz="1500" b="1"/>
            </a:pPr>
            <a:r>
              <a:rPr dirty="0"/>
              <a:t>21% enrichment</a:t>
            </a:r>
          </a:p>
          <a:p>
            <a:pPr lvl="1">
              <a:defRPr sz="1300"/>
            </a:pPr>
            <a:r>
              <a:rPr dirty="0"/>
              <a:t>Maximum credible HALEU</a:t>
            </a:r>
          </a:p>
          <a:p>
            <a:pPr>
              <a:defRPr sz="1500" b="1"/>
            </a:pPr>
            <a:r>
              <a:rPr dirty="0"/>
              <a:t>100% humidity</a:t>
            </a:r>
            <a:r>
              <a:rPr lang="en-US" dirty="0"/>
              <a:t> in air</a:t>
            </a:r>
            <a:endParaRPr dirty="0"/>
          </a:p>
          <a:p>
            <a:pPr lvl="1">
              <a:defRPr sz="1300"/>
            </a:pPr>
            <a:r>
              <a:rPr lang="en-US" dirty="0"/>
              <a:t>Maximum water content when air ingresses</a:t>
            </a:r>
            <a:endParaRPr dirty="0"/>
          </a:p>
          <a:p>
            <a:pPr>
              <a:defRPr sz="1500" b="1"/>
            </a:pPr>
            <a:r>
              <a:rPr dirty="0"/>
              <a:t>100% r</a:t>
            </a:r>
            <a:r>
              <a:rPr lang="en-US" dirty="0"/>
              <a:t>eaction and deposit</a:t>
            </a:r>
          </a:p>
          <a:p>
            <a:pPr lvl="1">
              <a:defRPr sz="1300"/>
            </a:pPr>
            <a:r>
              <a:rPr lang="en-US" dirty="0"/>
              <a:t>All UF6 + H20 converts to UO2F2 and is deposited in maker</a:t>
            </a:r>
          </a:p>
          <a:p>
            <a:pPr>
              <a:defRPr sz="1500" b="1"/>
            </a:pPr>
            <a:r>
              <a:rPr lang="en-US" dirty="0"/>
              <a:t>0.01 torr continuous leak rate</a:t>
            </a:r>
            <a:endParaRPr dirty="0"/>
          </a:p>
          <a:p>
            <a:pPr lvl="1">
              <a:defRPr sz="1300"/>
            </a:pPr>
            <a:r>
              <a:rPr dirty="0"/>
              <a:t>All </a:t>
            </a:r>
            <a:r>
              <a:rPr lang="en-US" dirty="0"/>
              <a:t>makers</a:t>
            </a:r>
            <a:r>
              <a:rPr dirty="0"/>
              <a:t> </a:t>
            </a:r>
            <a:r>
              <a:rPr lang="en-US" dirty="0"/>
              <a:t>leak air in continuously at 0.01 torr/min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860087-E698-A6CE-CB3D-63A7336C5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928767"/>
            <a:ext cx="6756978" cy="296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110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We use apply a number of conservative assumptions to make criticality argument obvious and defensible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Results: </a:t>
            </a:r>
            <a:r>
              <a:rPr lang="en-US" dirty="0"/>
              <a:t>k-eff as a function of f</a:t>
            </a:r>
            <a:r>
              <a:rPr dirty="0"/>
              <a:t>ill </a:t>
            </a:r>
            <a:r>
              <a:rPr lang="en-US" dirty="0"/>
              <a:t>f</a:t>
            </a:r>
            <a:r>
              <a:rPr dirty="0"/>
              <a:t>raction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10896" y="1097280"/>
            <a:ext cx="3657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Fill fraction refers to the % of fissile material in a maker (so 100% means the entire maker is filled with that fissile material). </a:t>
            </a:r>
          </a:p>
          <a:p>
            <a:endParaRPr lang="en-US" dirty="0"/>
          </a:p>
          <a:p>
            <a:r>
              <a:rPr lang="en-US" dirty="0"/>
              <a:t>We model an infinite cascade and plot fill % for 3 fissile materials (UF6, dry-UO2F2, wet-UO2F2) from 0% to 25%. </a:t>
            </a:r>
          </a:p>
          <a:p>
            <a:endParaRPr lang="en-US" dirty="0"/>
          </a:p>
          <a:p>
            <a:r>
              <a:rPr lang="en-US" dirty="0"/>
              <a:t>This graph shows the fill% needed to achieve criticality (</a:t>
            </a:r>
            <a:r>
              <a:rPr lang="en-US" dirty="0" err="1"/>
              <a:t>keff</a:t>
            </a:r>
            <a:r>
              <a:rPr lang="en-US" dirty="0"/>
              <a:t> &gt; 1.0).</a:t>
            </a:r>
          </a:p>
          <a:p>
            <a:endParaRPr lang="en-US" dirty="0"/>
          </a:p>
        </p:txBody>
      </p:sp>
      <p:pic>
        <p:nvPicPr>
          <p:cNvPr id="4" name="Picture 3" descr="combined_fil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914400"/>
            <a:ext cx="50292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FCB4-A2FD-4B3F-4E49-1D137E6E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7623-CE6C-B992-29BB-6BF6BA74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Results: </a:t>
            </a:r>
            <a:r>
              <a:rPr lang="en-US" dirty="0"/>
              <a:t>bounding analysis for material accumulation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AF1F6-B4F2-349A-F42B-4A6C691A73B5}"/>
              </a:ext>
            </a:extLst>
          </p:cNvPr>
          <p:cNvSpPr txBox="1"/>
          <p:nvPr/>
        </p:nvSpPr>
        <p:spPr>
          <a:xfrm>
            <a:off x="310896" y="1097280"/>
            <a:ext cx="36576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U02F2 : 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Assume all water from air leakage reacts with UF6 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Assume conservative 0.01 torr/min leak rate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Assume 100% of UO2F2 deposits in maker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For a lifetime of 10 years, the max amount of UO2F2 that is accumulated cannot achieve criticality</a:t>
            </a:r>
          </a:p>
          <a:p>
            <a:endParaRPr lang="en-US" dirty="0"/>
          </a:p>
          <a:p>
            <a:r>
              <a:rPr lang="en-US" sz="1200" dirty="0"/>
              <a:t>UF6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Assume 5g max of UF6 in a machine at a single time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To achieve criticality, you need to exceed 5kg of solid UF6, which is 1000x more than operating limit 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We will likely have IROFS or administrative controls before this is credible.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8B5CEA-BB7E-3CA1-6C6F-A3B54A3E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45" y="1017725"/>
            <a:ext cx="3873775" cy="385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4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B0F88-617A-93FD-2ADE-F6B281B4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1B3F-5BB0-473B-822A-E673067D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8A708-79E1-D474-3EB0-C4EEDC09707A}"/>
              </a:ext>
            </a:extLst>
          </p:cNvPr>
          <p:cNvSpPr txBox="1"/>
          <p:nvPr/>
        </p:nvSpPr>
        <p:spPr>
          <a:xfrm>
            <a:off x="328380" y="1006099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rPr lang="en-US" dirty="0"/>
              <a:t>The fissile material that can be credibly accumulated will not achieve criticality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723AB-BC5A-5359-3DE8-C78A08CF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5" y="1455297"/>
            <a:ext cx="5779698" cy="268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6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Conclusions &amp; 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Conclusions</a:t>
            </a:r>
          </a:p>
          <a:p>
            <a:pPr lvl="1">
              <a:defRPr sz="1400" b="1">
                <a:solidFill>
                  <a:srgbClr val="28A745"/>
                </a:solidFill>
              </a:defRPr>
            </a:pPr>
            <a:r>
              <a:rPr dirty="0"/>
              <a:t>Configuration is SAFE BY DESIGN</a:t>
            </a:r>
          </a:p>
          <a:p>
            <a:pPr lvl="1">
              <a:defRPr sz="1400"/>
            </a:pPr>
            <a:r>
              <a:rPr dirty="0"/>
              <a:t>Criticality is not credible under bounding assumptions</a:t>
            </a:r>
          </a:p>
          <a:p>
            <a:pPr lvl="1">
              <a:defRPr sz="1400"/>
            </a:pPr>
            <a:r>
              <a:rPr dirty="0"/>
              <a:t>Safety margins: </a:t>
            </a:r>
            <a:r>
              <a:rPr lang="en-US" dirty="0"/>
              <a:t>8</a:t>
            </a:r>
            <a:r>
              <a:rPr dirty="0"/>
              <a:t>× (UO2F2), 1,040× (UF6)</a:t>
            </a:r>
          </a:p>
          <a:p>
            <a:pPr lvl="1">
              <a:defRPr sz="1400"/>
            </a:pPr>
            <a:r>
              <a:rPr dirty="0"/>
              <a:t>No reliance on administrative controls for criticality prevention</a:t>
            </a:r>
          </a:p>
          <a:p>
            <a:pPr>
              <a:defRPr sz="1800" b="1"/>
            </a:pPr>
            <a:r>
              <a:rPr dirty="0"/>
              <a:t>Recommendations</a:t>
            </a:r>
          </a:p>
          <a:p>
            <a:pPr lvl="1">
              <a:defRPr sz="1400"/>
            </a:pPr>
            <a:r>
              <a:rPr dirty="0"/>
              <a:t>No additional criticality controls required</a:t>
            </a:r>
          </a:p>
          <a:p>
            <a:pPr lvl="1">
              <a:defRPr sz="1400"/>
            </a:pPr>
            <a:r>
              <a:rPr lang="en-US" dirty="0"/>
              <a:t>Get technical review by Amentum (validate assumptions)</a:t>
            </a:r>
          </a:p>
          <a:p>
            <a:pPr lvl="1">
              <a:defRPr sz="1400"/>
            </a:pPr>
            <a:r>
              <a:rPr lang="en-US" dirty="0"/>
              <a:t>D</a:t>
            </a:r>
            <a:r>
              <a:rPr dirty="0"/>
              <a:t>ocument safety basis in formal calculation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BA4D-B88F-D882-23D4-8E1EEBDA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1414-0879-8DE6-E560-B5FE581BF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F4F66-6300-F722-3091-08317B1ED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52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Peak Moderation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97280"/>
            <a:ext cx="40233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Why H/U = 25?</a:t>
            </a:r>
          </a:p>
          <a:p>
            <a:pPr>
              <a:defRPr sz="1300"/>
            </a:pPr>
            <a:r>
              <a:rPr dirty="0"/>
              <a:t>• Hydrolysis: UF6 + 2H2O → UO2F2 + 4HF</a:t>
            </a:r>
          </a:p>
          <a:p>
            <a:pPr>
              <a:defRPr sz="1300"/>
            </a:pPr>
            <a:r>
              <a:rPr dirty="0"/>
              <a:t>• Water provides moderation (H atoms)</a:t>
            </a:r>
          </a:p>
          <a:p>
            <a:pPr>
              <a:defRPr sz="1300"/>
            </a:pPr>
            <a:r>
              <a:rPr dirty="0"/>
              <a:t>• Peak reactivity at H/U = 25</a:t>
            </a:r>
            <a:r>
              <a:rPr lang="en-US" dirty="0"/>
              <a:t> (</a:t>
            </a:r>
            <a:r>
              <a:rPr lang="en-US" dirty="0" err="1"/>
              <a:t>keff</a:t>
            </a:r>
            <a:r>
              <a:rPr lang="en-US" dirty="0"/>
              <a:t> = 1.65)</a:t>
            </a:r>
            <a:endParaRPr dirty="0"/>
          </a:p>
          <a:p>
            <a:pPr>
              <a:defRPr sz="1300"/>
            </a:pPr>
            <a:r>
              <a:rPr dirty="0"/>
              <a:t>• Used for bounding analysis</a:t>
            </a:r>
          </a:p>
        </p:txBody>
      </p:sp>
      <p:pic>
        <p:nvPicPr>
          <p:cNvPr id="4" name="Picture 3" descr="uo2f2_h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144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nMatter_Pres">
  <a:themeElements>
    <a:clrScheme name="GenMatter">
      <a:dk1>
        <a:srgbClr val="000000"/>
      </a:dk1>
      <a:lt1>
        <a:srgbClr val="FFFFFF"/>
      </a:lt1>
      <a:dk2>
        <a:srgbClr val="C3C9C3"/>
      </a:dk2>
      <a:lt2>
        <a:srgbClr val="EEEEEE"/>
      </a:lt2>
      <a:accent1>
        <a:srgbClr val="E63846"/>
      </a:accent1>
      <a:accent2>
        <a:srgbClr val="F3A261"/>
      </a:accent2>
      <a:accent3>
        <a:srgbClr val="E9C369"/>
      </a:accent3>
      <a:accent4>
        <a:srgbClr val="2A9D8F"/>
      </a:accent4>
      <a:accent5>
        <a:srgbClr val="457B9D"/>
      </a:accent5>
      <a:accent6>
        <a:srgbClr val="00DDF9"/>
      </a:accent6>
      <a:hlink>
        <a:srgbClr val="FFB500"/>
      </a:hlink>
      <a:folHlink>
        <a:srgbClr val="A74500"/>
      </a:folHlink>
    </a:clrScheme>
    <a:fontScheme name="GeneralMatter">
      <a:majorFont>
        <a:latin typeface="Gerstner Programm FSL"/>
        <a:ea typeface=""/>
        <a:cs typeface=""/>
      </a:majorFont>
      <a:minorFont>
        <a:latin typeface="Gerstner Programm FS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F77BABE-18A3-489F-952F-4FE54B320610}" vid="{3F9514B1-CF9E-45D0-AE2D-BC76E552101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83ada-3da1-4fdc-92e5-ec0bf8e6c249">
      <Terms xmlns="http://schemas.microsoft.com/office/infopath/2007/PartnerControls"/>
    </lcf76f155ced4ddcb4097134ff3c332f>
    <TaxCatchAll xmlns="447c36a4-115e-4c59-9ce0-9311da3b65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9231754E83054E8702215DC3B83FA3" ma:contentTypeVersion="12" ma:contentTypeDescription="Create a new document." ma:contentTypeScope="" ma:versionID="e08bc10836f98875604207bc7cb4768e">
  <xsd:schema xmlns:xsd="http://www.w3.org/2001/XMLSchema" xmlns:xs="http://www.w3.org/2001/XMLSchema" xmlns:p="http://schemas.microsoft.com/office/2006/metadata/properties" xmlns:ns2="c0c83ada-3da1-4fdc-92e5-ec0bf8e6c249" xmlns:ns3="447c36a4-115e-4c59-9ce0-9311da3b6555" targetNamespace="http://schemas.microsoft.com/office/2006/metadata/properties" ma:root="true" ma:fieldsID="08dabfd3b410b4d467252097f2c321f5" ns2:_="" ns3:_="">
    <xsd:import namespace="c0c83ada-3da1-4fdc-92e5-ec0bf8e6c249"/>
    <xsd:import namespace="447c36a4-115e-4c59-9ce0-9311da3b65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83ada-3da1-4fdc-92e5-ec0bf8e6c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a5fa1f-657a-466f-b237-a960dd9b08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36a4-115e-4c59-9ce0-9311da3b65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329018e-a7b8-48a3-b598-6720dac80dd9}" ma:internalName="TaxCatchAll" ma:showField="CatchAllData" ma:web="447c36a4-115e-4c59-9ce0-9311da3b65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205D5E-11F7-4C65-B84C-12EEF6A196BE}">
  <ds:schemaRefs>
    <ds:schemaRef ds:uri="1481e733-964b-44e3-a1b7-9a6aafaa2184"/>
    <ds:schemaRef ds:uri="447c36a4-115e-4c59-9ce0-9311da3b6555"/>
    <ds:schemaRef ds:uri="675e6c8b-169c-452b-b5f1-3bf6321d938f"/>
    <ds:schemaRef ds:uri="c0c83ada-3da1-4fdc-92e5-ec0bf8e6c24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74A7F4-DA1A-425B-B7B0-BC0E7074DF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2CD8FE-B398-4810-852B-368D941E2412}">
  <ds:schemaRefs>
    <ds:schemaRef ds:uri="447c36a4-115e-4c59-9ce0-9311da3b6555"/>
    <ds:schemaRef ds:uri="c0c83ada-3da1-4fdc-92e5-ec0bf8e6c2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GeneralMatter-POT-ppt-Template</Template>
  <TotalTime>289</TotalTime>
  <Words>546</Words>
  <Application>Microsoft Office PowerPoint</Application>
  <PresentationFormat>On-screen Show (16:9)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Mono Medium</vt:lpstr>
      <vt:lpstr>Arial</vt:lpstr>
      <vt:lpstr>-apple-system</vt:lpstr>
      <vt:lpstr>Gerstner Programm FSL</vt:lpstr>
      <vt:lpstr>Wingdings</vt:lpstr>
      <vt:lpstr>GenMatter_Pres</vt:lpstr>
      <vt:lpstr>Cassette – criticality analysis</vt:lpstr>
      <vt:lpstr>Executive summary</vt:lpstr>
      <vt:lpstr>Model</vt:lpstr>
      <vt:lpstr>Approach </vt:lpstr>
      <vt:lpstr>Conservative Assumptions</vt:lpstr>
      <vt:lpstr>Results: k-eff as a function of fill fraction </vt:lpstr>
      <vt:lpstr>Results: bounding analysis for material accumulation</vt:lpstr>
      <vt:lpstr>Result </vt:lpstr>
      <vt:lpstr>Conclusions &amp; Recommendations</vt:lpstr>
      <vt:lpstr>Appendix</vt:lpstr>
      <vt:lpstr>Peak Moderation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Clark</dc:creator>
  <cp:lastModifiedBy>Andy Lee</cp:lastModifiedBy>
  <cp:revision>8</cp:revision>
  <dcterms:created xsi:type="dcterms:W3CDTF">2026-01-26T18:21:26Z</dcterms:created>
  <dcterms:modified xsi:type="dcterms:W3CDTF">2026-02-14T01:29:51Z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0x010100819231754E83054E8702215DC3B83FA3</vt:lpwstr>
  </property>
  <property fmtid="{D5CDD505-2E9C-101B-9397-08002B2CF9AE}" pid="3" name="MediaServiceImageTags">
    <vt:lpwstr/>
  </property>
</Properties>
</file>